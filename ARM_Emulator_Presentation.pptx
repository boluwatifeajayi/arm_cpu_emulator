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ARM CPU Emulator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B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1: Instruction Decoder &amp; Disassembler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&amp; Systems Development  |  CRN 11550  |  Level 7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0" y="1097280"/>
            <a:ext cx="1828800" cy="1828800"/>
          </a:xfrm>
          <a:prstGeom prst="rect">
            <a:avLst/>
          </a:prstGeom>
          <a:solidFill>
            <a:srgbClr val="1B4F8A">
              <a:alpha val="70000"/>
            </a:srgbClr>
          </a:solidFill>
          <a:ln w="1905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0" y="109728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32-BIT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0B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ARM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 Built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2743200" cy="50292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RAM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" y="1600200"/>
            <a:ext cx="2523744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1024-word memory array that stores 32-bit ARM machine code instructions loaded from a file or hardcoded for testing.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74320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005840"/>
            <a:ext cx="2743200" cy="50292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005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 DECODER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01568" y="1600200"/>
            <a:ext cx="2523744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bitwise operations (&amp;, &gt;&gt;) to extract fields from each 32-bit instruction — condition code, opcode, registers, operands.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1005840"/>
            <a:ext cx="274320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9360" y="1005840"/>
            <a:ext cx="2743200" cy="50292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005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DISASSEMBLER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19088" y="1600200"/>
            <a:ext cx="2523744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Prints the human-readable Assembly mnemonic alongside the raw hex op-code for every instruction decoded.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Fetch → Decode → Execute Loop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3566160"/>
          </a:xfrm>
          <a:prstGeom prst="rect">
            <a:avLst/>
          </a:prstGeom>
          <a:solidFill>
            <a:srgbClr val="1A2744"/>
          </a:solidFill>
          <a:ln w="19050">
            <a:solidFill>
              <a:srgbClr val="00B4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2560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F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registers[15] holds the PC.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F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memory[PC &gt;&gt; 2] reads the next 32-bit instruction.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F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 is immediately incremented by 4.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6324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B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291840" y="1005840"/>
            <a:ext cx="2743200" cy="3566160"/>
          </a:xfrm>
          <a:prstGeom prst="rect">
            <a:avLst/>
          </a:prstGeom>
          <a:solidFill>
            <a:srgbClr val="1A2744"/>
          </a:solidFill>
          <a:ln w="19050">
            <a:solidFill>
              <a:srgbClr val="00B4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383280" y="16002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DECODE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83280" y="2103120"/>
            <a:ext cx="2560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F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decodeInstruction() checks bits 27:26.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F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 → ALU   01 → LDR/STR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F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→ Branch   11 → SWI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F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right decoder extracts all fields.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8076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B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309360" y="1005840"/>
            <a:ext cx="2743200" cy="3566160"/>
          </a:xfrm>
          <a:prstGeom prst="rect">
            <a:avLst/>
          </a:prstGeom>
          <a:solidFill>
            <a:srgbClr val="1A2744"/>
          </a:solidFill>
          <a:ln w="19050">
            <a:solidFill>
              <a:srgbClr val="00B4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400800" y="16002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(Component 2)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0" y="2103120"/>
            <a:ext cx="2560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F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 1: just PRINTS the mnemonic.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F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 2 will actually perform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F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operation and update registers.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Bit Decoding Works — E3A00001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— The raw 32-bit instruction in binary: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298448"/>
            <a:ext cx="8595360" cy="594360"/>
          </a:xfrm>
          <a:prstGeom prst="rect">
            <a:avLst/>
          </a:prstGeom>
          <a:solidFill>
            <a:srgbClr val="1A2744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9844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1110  0011  1010  0000  0000  0000  0000  0001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74320" y="2011680"/>
            <a:ext cx="1463040" cy="1280160"/>
          </a:xfrm>
          <a:prstGeom prst="rect">
            <a:avLst/>
          </a:prstGeom>
          <a:solidFill>
            <a:srgbClr val="00B4A6">
              <a:alpha val="80000"/>
            </a:srgbClr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011680"/>
            <a:ext cx="1463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[31:28]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0xE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AL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74520" y="2011680"/>
            <a:ext cx="914400" cy="1280160"/>
          </a:xfrm>
          <a:prstGeom prst="rect">
            <a:avLst/>
          </a:prstGeom>
          <a:solidFill>
            <a:srgbClr val="4A90D9">
              <a:alpha val="8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74520" y="2011680"/>
            <a:ext cx="914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[27:26]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ALU type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26080" y="2011680"/>
            <a:ext cx="1005840" cy="1280160"/>
          </a:xfrm>
          <a:prstGeom prst="rect">
            <a:avLst/>
          </a:prstGeom>
          <a:solidFill>
            <a:srgbClr val="F5A623">
              <a:alpha val="80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0" y="2011680"/>
            <a:ext cx="1005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[25]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Immediate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069080" y="2011680"/>
            <a:ext cx="1417320" cy="1280160"/>
          </a:xfrm>
          <a:prstGeom prst="rect">
            <a:avLst/>
          </a:prstGeom>
          <a:solidFill>
            <a:srgbClr val="00B4A6">
              <a:alpha val="80000"/>
            </a:srgbClr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69080" y="2011680"/>
            <a:ext cx="1417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OpCode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[24:21]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13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MOV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23560" y="2011680"/>
            <a:ext cx="822960" cy="1280160"/>
          </a:xfrm>
          <a:prstGeom prst="rect">
            <a:avLst/>
          </a:prstGeom>
          <a:solidFill>
            <a:srgbClr val="B0BEC5">
              <a:alpha val="50000"/>
            </a:srgbClr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23560" y="2011680"/>
            <a:ext cx="822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S=0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[20]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flag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83680" y="2011680"/>
            <a:ext cx="914400" cy="1280160"/>
          </a:xfrm>
          <a:prstGeom prst="rect">
            <a:avLst/>
          </a:prstGeom>
          <a:solidFill>
            <a:srgbClr val="B0BEC5">
              <a:alpha val="50000"/>
            </a:srgbClr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2011680"/>
            <a:ext cx="914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Rn=0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[19:16]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(ignored)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589520" y="2011680"/>
            <a:ext cx="777240" cy="1280160"/>
          </a:xfrm>
          <a:prstGeom prst="rect">
            <a:avLst/>
          </a:prstGeom>
          <a:solidFill>
            <a:srgbClr val="4A90D9">
              <a:alpha val="8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0" y="2011680"/>
            <a:ext cx="777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Rd=0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[15:12]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r0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412480" y="2011680"/>
            <a:ext cx="457200" cy="1280160"/>
          </a:xfrm>
          <a:prstGeom prst="rect">
            <a:avLst/>
          </a:prstGeom>
          <a:solidFill>
            <a:srgbClr val="F5A623">
              <a:alpha val="80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0" y="2011680"/>
            <a:ext cx="457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[7:0]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3429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— C code extracts each field: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74320" y="3749040"/>
            <a:ext cx="8595360" cy="1188720"/>
          </a:xfrm>
          <a:prstGeom prst="rect">
            <a:avLst/>
          </a:prstGeom>
          <a:solidFill>
            <a:srgbClr val="1A2744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7947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condCode = inst &gt;&gt; 28;          </a:t>
            </a:r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14 = AL (always execute)
</a:t>
            </a:r>
            <a:pPr indent="0" marL="0">
              <a:buNone/>
            </a:pPr>
            <a:r>
              <a:rPr lang="en-US" sz="12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opcode   = (inst &gt;&gt; 21) &amp; 0xF;  </a:t>
            </a:r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13 = MOV
</a:t>
            </a:r>
            <a:pPr indent="0" marL="0">
              <a:buNone/>
            </a:pPr>
            <a:r>
              <a:rPr lang="en-US" sz="12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regDest  = (inst &gt;&gt; 12) &amp; 0xF;  </a:t>
            </a:r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0  = r0
</a:t>
            </a:r>
            <a:pPr indent="0" marL="0">
              <a:buNone/>
            </a:pPr>
            <a:r>
              <a:rPr lang="en-US" sz="12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imm      = inst &amp; 0xFF;         </a:t>
            </a:r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1  = #1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Program Output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3931920"/>
          </a:xfrm>
          <a:prstGeom prst="rect">
            <a:avLst/>
          </a:prstGeom>
          <a:solidFill>
            <a:srgbClr val="1A2744"/>
          </a:solidFill>
          <a:ln w="19050">
            <a:solidFill>
              <a:srgbClr val="00B4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./emulator test_all.txt
</a:t>
            </a:r>
            <a:pPr indent="0" marL="0">
              <a:buNone/>
            </a:pPr>
            <a:r>
              <a:rPr lang="en-US" sz="11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Loading file: test_all.txt
</a:t>
            </a:r>
            <a:pPr indent="0" marL="0">
              <a:buNone/>
            </a:pPr>
            <a:r>
              <a:rPr lang="en-US" sz="115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00B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Address      Op-Code       Assembly Mnemonic
</a:t>
            </a:r>
            <a:pPr indent="0" marL="0">
              <a:buNone/>
            </a:pPr>
            <a:r>
              <a:rPr lang="en-US" sz="1150" dirty="0">
                <a:solidFill>
                  <a:srgbClr val="00B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--------------------------------------------------
</a:t>
            </a:r>
            <a:pPr indent="0" marL="0">
              <a:buNone/>
            </a:pPr>
            <a:r>
              <a:rPr lang="en-US" sz="11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00000000 : E3A00000   MOV r0, #0
</a:t>
            </a:r>
            <a:pPr indent="0" marL="0">
              <a:buNone/>
            </a:pPr>
            <a:r>
              <a:rPr lang="en-US" sz="11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00000004 : E3A00B02   MOV r0, #2048
</a:t>
            </a:r>
            <a:pPr indent="0" marL="0">
              <a:buNone/>
            </a:pPr>
            <a:r>
              <a:rPr lang="en-US" sz="11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00000008 : E0832004   ADD r2, r3, r4
</a:t>
            </a:r>
            <a:pPr indent="0" marL="0">
              <a:buNone/>
            </a:pPr>
            <a:r>
              <a:rPr lang="en-US" sz="11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0000000C : E0932004   ADDS r2, r3, r4
</a:t>
            </a:r>
            <a:pPr indent="0" marL="0">
              <a:buNone/>
            </a:pPr>
            <a:r>
              <a:rPr lang="en-US" sz="11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00000010 : E0454006   SUB r4, r5, r6
</a:t>
            </a:r>
            <a:pPr indent="0" marL="0">
              <a:buNone/>
            </a:pPr>
            <a:r>
              <a:rPr lang="en-US" sz="115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
</a:t>
            </a:r>
            <a:pPr indent="0" marL="0">
              <a:buNone/>
            </a:pPr>
            <a:r>
              <a:rPr lang="en-US" sz="11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00000074 : EA000002   B 16
</a:t>
            </a:r>
            <a:pPr indent="0" marL="0">
              <a:buNone/>
            </a:pPr>
            <a:r>
              <a:rPr lang="en-US" sz="11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00000078 : 1AFFFFFC   BNE -8
</a:t>
            </a:r>
            <a:pPr indent="0" marL="0">
              <a:buNone/>
            </a:pPr>
            <a:r>
              <a:rPr lang="en-US" sz="11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0000007C : EBFFFFFB   BL -12
</a:t>
            </a:r>
            <a:pPr indent="0" marL="0">
              <a:buNone/>
            </a:pPr>
            <a:r>
              <a:rPr lang="en-US" sz="11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00000080 : EF000001   SWI 1
</a:t>
            </a:r>
            <a:pPr indent="0" marL="0">
              <a:buNone/>
            </a:pPr>
            <a:r>
              <a:rPr lang="en-US" sz="115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[End of program]
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All Instruction Types Supported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3840480"/>
        </p:xfrm>
        <a:graphic>
          <a:graphicData uri="http://schemas.openxmlformats.org/drawingml/2006/table">
            <a:tbl>
              <a:tblPr/>
              <a:tblGrid>
                <a:gridCol w="1188720"/>
                <a:gridCol w="1828800"/>
                <a:gridCol w="4480560"/>
                <a:gridCol w="10972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Bits 27:26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Instructions Covered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8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0  0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Processing (ALU)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AND EOR SUB RSB ADD ADC SBC RSC TST TEQ CMP CMN ORR MOV BIC MVN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0  1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Transfer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LDR / STR with all addressing modes (pre/post index, write-back, byte/word)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2+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 0  +  B25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 (branch) and BL (branch with link)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1  1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Software Interrupt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SWI with 24-bit interrupt code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16 Condition Codes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EQ NE CS CC MI PL VS VC HI LS GE LT GT LE AL NV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Condition Codes — Every Instruction Has One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[31:28] of every instruction. The CPU checks the Status Register before executing.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2011680" cy="749808"/>
          </a:xfrm>
          <a:prstGeom prst="rect">
            <a:avLst/>
          </a:prstGeom>
          <a:solidFill>
            <a:srgbClr val="1A2744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89888"/>
            <a:ext cx="640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32688" y="1389888"/>
            <a:ext cx="13350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Z=1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371600"/>
            <a:ext cx="2011680" cy="749808"/>
          </a:xfrm>
          <a:prstGeom prst="rect">
            <a:avLst/>
          </a:prstGeom>
          <a:solidFill>
            <a:srgbClr val="1A2744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50592" y="1389888"/>
            <a:ext cx="640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108960" y="1389888"/>
            <a:ext cx="13350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Z=0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Equal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26864" y="1371600"/>
            <a:ext cx="2011680" cy="749808"/>
          </a:xfrm>
          <a:prstGeom prst="rect">
            <a:avLst/>
          </a:prstGeom>
          <a:solidFill>
            <a:srgbClr val="1A2744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26864" y="1389888"/>
            <a:ext cx="640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85232" y="1389888"/>
            <a:ext cx="13350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C=1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Carry Set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03136" y="1371600"/>
            <a:ext cx="2011680" cy="749808"/>
          </a:xfrm>
          <a:prstGeom prst="rect">
            <a:avLst/>
          </a:prstGeom>
          <a:solidFill>
            <a:srgbClr val="1A2744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03136" y="1389888"/>
            <a:ext cx="640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CC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461504" y="1389888"/>
            <a:ext cx="13350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C=0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Carry Clear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249424"/>
            <a:ext cx="2011680" cy="749808"/>
          </a:xfrm>
          <a:prstGeom prst="rect">
            <a:avLst/>
          </a:prstGeom>
          <a:solidFill>
            <a:srgbClr val="1A2744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267712"/>
            <a:ext cx="640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32688" y="2267712"/>
            <a:ext cx="13350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N=1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450592" y="2249424"/>
            <a:ext cx="2011680" cy="749808"/>
          </a:xfrm>
          <a:prstGeom prst="rect">
            <a:avLst/>
          </a:prstGeom>
          <a:solidFill>
            <a:srgbClr val="1A2744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50592" y="2267712"/>
            <a:ext cx="640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108960" y="2267712"/>
            <a:ext cx="13350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N=0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26864" y="2249424"/>
            <a:ext cx="2011680" cy="749808"/>
          </a:xfrm>
          <a:prstGeom prst="rect">
            <a:avLst/>
          </a:prstGeom>
          <a:solidFill>
            <a:srgbClr val="1A2744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26864" y="2267712"/>
            <a:ext cx="640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285232" y="2267712"/>
            <a:ext cx="13350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V=1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Overflow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03136" y="2249424"/>
            <a:ext cx="2011680" cy="749808"/>
          </a:xfrm>
          <a:prstGeom prst="rect">
            <a:avLst/>
          </a:prstGeom>
          <a:solidFill>
            <a:srgbClr val="1A2744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03136" y="2267712"/>
            <a:ext cx="640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VC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461504" y="2267712"/>
            <a:ext cx="13350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V=0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Overflow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3127248"/>
            <a:ext cx="2011680" cy="749808"/>
          </a:xfrm>
          <a:prstGeom prst="rect">
            <a:avLst/>
          </a:prstGeom>
          <a:solidFill>
            <a:srgbClr val="1A2744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3145536"/>
            <a:ext cx="640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32688" y="3145536"/>
            <a:ext cx="13350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C=1 Z=0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450592" y="3127248"/>
            <a:ext cx="2011680" cy="749808"/>
          </a:xfrm>
          <a:prstGeom prst="rect">
            <a:avLst/>
          </a:prstGeom>
          <a:solidFill>
            <a:srgbClr val="1A2744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50592" y="3145536"/>
            <a:ext cx="640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3108960" y="3145536"/>
            <a:ext cx="13350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C=0/Z=1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Lower/Same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26864" y="3127248"/>
            <a:ext cx="2011680" cy="749808"/>
          </a:xfrm>
          <a:prstGeom prst="rect">
            <a:avLst/>
          </a:prstGeom>
          <a:solidFill>
            <a:srgbClr val="1A2744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26864" y="3145536"/>
            <a:ext cx="640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285232" y="3145536"/>
            <a:ext cx="13350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N=V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&gt;=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803136" y="3127248"/>
            <a:ext cx="2011680" cy="749808"/>
          </a:xfrm>
          <a:prstGeom prst="rect">
            <a:avLst/>
          </a:prstGeom>
          <a:solidFill>
            <a:srgbClr val="1A2744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03136" y="3145536"/>
            <a:ext cx="640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LT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7461504" y="3145536"/>
            <a:ext cx="13350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N≠V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&lt;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74320" y="4005072"/>
            <a:ext cx="2011680" cy="749808"/>
          </a:xfrm>
          <a:prstGeom prst="rect">
            <a:avLst/>
          </a:prstGeom>
          <a:solidFill>
            <a:srgbClr val="1A2744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023360"/>
            <a:ext cx="640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GT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932688" y="4023360"/>
            <a:ext cx="13350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Z=0 N=V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&gt;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450592" y="4005072"/>
            <a:ext cx="2011680" cy="749808"/>
          </a:xfrm>
          <a:prstGeom prst="rect">
            <a:avLst/>
          </a:prstGeom>
          <a:solidFill>
            <a:srgbClr val="1A2744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450592" y="4023360"/>
            <a:ext cx="640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3108960" y="4023360"/>
            <a:ext cx="13350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Z=1/N≠V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&lt;=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626864" y="4005072"/>
            <a:ext cx="2011680" cy="749808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26864" y="4023360"/>
            <a:ext cx="640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5285232" y="4023360"/>
            <a:ext cx="13350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(most instrs)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803136" y="4005072"/>
            <a:ext cx="2011680" cy="749808"/>
          </a:xfrm>
          <a:prstGeom prst="rect">
            <a:avLst/>
          </a:prstGeom>
          <a:solidFill>
            <a:srgbClr val="1A2744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03136" y="4023360"/>
            <a:ext cx="640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NV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7461504" y="4023360"/>
            <a:ext cx="13350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(unused)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Operand 2 — The Flexible Second Argument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60520" cy="3840480"/>
          </a:xfrm>
          <a:prstGeom prst="rect">
            <a:avLst/>
          </a:prstGeom>
          <a:solidFill>
            <a:srgbClr val="FFFFFF"/>
          </a:solidFill>
          <a:ln w="254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4160520" cy="5486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 = 1  (Immediate)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[7:0]</a:t>
            </a:r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8-bit immediate value
</a:t>
            </a:r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[11:8]</a:t>
            </a:r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rotate amount (×2)
</a:t>
            </a:r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
</a:t>
            </a:r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MOV r0, #1
  MOV r0, #2048
  ADD r2, r3, #5
</a:t>
            </a:r>
            <a:pPr indent="0" marL="0">
              <a:buNone/>
            </a:pPr>
            <a:r>
              <a:rPr lang="en-US" sz="13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constant number baked directly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into the instruction itself.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05840"/>
            <a:ext cx="4160520" cy="3840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4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005840"/>
            <a:ext cx="4160520" cy="54864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0058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 = 0  (Register + Shift)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164592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[3:0]</a:t>
            </a:r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source register number
</a:t>
            </a:r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[6:5]</a:t>
            </a:r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shift type (LSL/LSR/ASR/ROR)
</a:t>
            </a:r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[11:7]</a:t>
            </a:r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shift amount
</a:t>
            </a:r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
</a:t>
            </a:r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MOV r1, r0, LSR #1
  MOV r1, r0, LSL #2
  ADD r2, r3, r4, ROR #4
</a:t>
            </a:r>
            <a:pPr indent="0" marL="0">
              <a:buNone/>
            </a:pPr>
            <a:r>
              <a:rPr lang="en-US" sz="13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from a register, optionally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shifted before use.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Questions — What to Expect in the Demo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713232"/>
          </a:xfrm>
          <a:prstGeom prst="rect">
            <a:avLst/>
          </a:prstGeom>
          <a:solidFill>
            <a:srgbClr val="1A2744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78408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How does your program know it's a MOV?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307592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A: Bits 27:26 = 00 → ALU. Bits 24:21 = 1101 = 13. alu_op_labels[13] = "MOV".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764792"/>
            <a:ext cx="8595360" cy="713232"/>
          </a:xfrm>
          <a:prstGeom prst="rect">
            <a:avLst/>
          </a:prstGeom>
          <a:solidFill>
            <a:srgbClr val="1A2744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83080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Why does the PC increase by 4?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112264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A: Every ARM instruction is exactly 32 bits = 4 bytes. PC counts bytes, so +4 per instruction.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569464"/>
            <a:ext cx="8595360" cy="713232"/>
          </a:xfrm>
          <a:prstGeom prst="rect">
            <a:avLst/>
          </a:prstGeom>
          <a:solidFill>
            <a:srgbClr val="1A2744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87752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What does the I bit do?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916936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A: Bit 25 = 1: Operand2 is an immediate constant (#5). Bit 25 = 0: Operand2 is a register.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3374136"/>
            <a:ext cx="8595360" cy="713232"/>
          </a:xfrm>
          <a:prstGeom prst="rect">
            <a:avLst/>
          </a:prstGeom>
          <a:solidFill>
            <a:srgbClr val="1A2744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392424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Why use uint32_t not int?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72160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A: int size varies by platform (16/32/64 bit). uint32_t is always exactly 32 bits — matches real ARM registers.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4178808"/>
            <a:ext cx="8595360" cy="713232"/>
          </a:xfrm>
          <a:prstGeom prst="rect">
            <a:avLst/>
          </a:prstGeom>
          <a:solidFill>
            <a:srgbClr val="1A2744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19709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What is the S bit?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52628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A: Bit 20. If set (1), the instruction updates the Status Register flags. ADDS updates flags, ADD does not.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Next — Component 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60520" cy="3840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4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4160520" cy="50292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A — Basic Emulation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393192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Add actual execution — don't just print, DO the operation
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Implement all ALU instructions: ADD, SUB, MOV, AND, ORR, CMP...
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Display all 16 register values after each instruction
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Step-by-step mode: pause and wait for Enter key
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Track and update the Program Counter correctly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09160" y="1005840"/>
            <a:ext cx="4160520" cy="3840480"/>
          </a:xfrm>
          <a:prstGeom prst="rect">
            <a:avLst/>
          </a:prstGeom>
          <a:solidFill>
            <a:srgbClr val="FFFFFF"/>
          </a:solidFill>
          <a:ln w="254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005840"/>
            <a:ext cx="4160520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00584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B — Full Emulation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00600" y="1600200"/>
            <a:ext cx="393192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Add conditional execution using Status Register flags
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Implement LDR/STR to read and write virtual RAM
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Implement B and BL to change the Program Counter
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Set N, Z, C, V flags correctly after each ALU operation
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Count and display CPU cycle usage per instruction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Component 1 — Complete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B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 Instruction Decoder &amp; Disassembler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28800" y="2514600"/>
            <a:ext cx="5486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✓  All 16 ALU instructions decoded correctly
</a:t>
            </a:r>
            <a:pPr algn="l" indent="0" marL="0">
              <a:buNone/>
            </a:pPr>
            <a:r>
              <a:rPr lang="en-US" sz="1400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✓  All 16 condition codes handled
</a:t>
            </a:r>
            <a:pPr algn="l"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✓  LDR / STR with all addressing modes
</a:t>
            </a:r>
            <a:pPr algn="l" indent="0" marL="0">
              <a:buNone/>
            </a:pPr>
            <a:r>
              <a:rPr lang="en-US" sz="1400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✓  B, BL, and SWI
</a:t>
            </a:r>
            <a:pPr algn="l"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✓  File loading (prog1.txt → prog5.txt)
</a:t>
            </a:r>
            <a:pPr algn="l" indent="0" marL="0">
              <a:buNone/>
            </a:pPr>
            <a:r>
              <a:rPr lang="en-US" sz="1400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✓  Fully commented, well-formatted C code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2026-03-10T15:15:01Z</dcterms:created>
  <dcterms:modified xsi:type="dcterms:W3CDTF">2026-03-10T15:15:01Z</dcterms:modified>
</cp:coreProperties>
</file>